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APROBADO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Cursos</c:v>
                </c:pt>
                <c:pt idx="1">
                  <c:v>Publicaciones</c:v>
                </c:pt>
                <c:pt idx="2">
                  <c:v>Eventos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2E86AB"/>
                </a:solidFill>
              </a:defRPr>
            </a:pPr>
            <a:r>
              <a:t>Test Report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Generado el 2025-10-07 12:39:58.335031</a:t>
            </a:r>
          </a:p>
          <a:p>
            <a:r>
              <a:t>Período: 2024-01-01 - 2024-03-31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Período: 1 de enero de 2024 - 31 de marzo de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Durante el período comprendido entre 01 de January de 2024 y 31 de March de 2024, el sistema de reportes docentes ha registrado una actividad académica significativa. Se procesaron un total de 2 formularios docentes, de los cuales 2 fueron aprobados para su inclusión en el análisis.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Los resultados muestran una distribución variada en los tipos de actividades reportadas. Se registraron 6 actividades académicas distribuidas en 3 cursos de capacitación, 2 publicaciones, 1 eventos académicos, y 0 actividades adicionales de desarrollo profesional.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Análisis Detallado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• Capacitación Docente</a:t>
            </a:r>
          </a:p>
          <a:p>
            <a:pPr>
              <a:defRPr sz="1400"/>
            </a:pPr>
            <a:r>
              <a:t>Se documentaron 3 cursos de capacitación, representando 135 horas de desarrollo académico. Entre los más destacados se encuentran: Machine Learning Avanzado, Python para Ciencia de Datos y Estadística Aplicada.</a:t>
            </a:r>
          </a:p>
          <a:p>
            <a:pPr>
              <a:defRPr sz="1400"/>
            </a:pPr>
            <a:r>
              <a:t>• Producción Académica</a:t>
            </a:r>
          </a:p>
          <a:p>
            <a:pPr>
              <a:defRPr sz="1400"/>
            </a:pPr>
            <a:r>
              <a:t>En términos de producción académica, se registrar2 publicaciones en diversas modalidades. Entre los más destacados se encuentran: IA en Educación y Métodos Cuantitativos.</a:t>
            </a:r>
          </a:p>
          <a:p>
            <a:pPr>
              <a:defRPr sz="1400"/>
            </a:pPr>
            <a:r>
              <a:t>• Participación en Eventos</a:t>
            </a:r>
          </a:p>
          <a:p>
            <a:pPr>
              <a:defRPr sz="1400"/>
            </a:pPr>
            <a:r>
              <a:t>La participación en eventos académicanzó 1 actividades registradas. Destaca especialmente &amp;#39;Congreso de IA&amp;#39;.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Aspectos Destacados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Los docentes con mayor actividad académica incluyen: Dr. Juan Pérez García, Dra. María García. El promedio de horas por curso de capacitación fue de 45.0 horas. Se identificaron 2 publicaciones de particular relevancia académica. En promedio, cada docente participó en 0.5 eventos académicos.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Conclusiones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El reporte ofrece una visión comprehensiva de las actividades desarrolladas durante el período.</a:t>
            </a:r>
          </a:p>
          <a:p>
            <a:pPr>
              <a:defRPr sz="1400"/>
            </a:pPr>
            <a:r>
              <a:t>Es aconsejable mantener el impulso en las actividades de investigación y publicación académica.</a:t>
            </a:r>
          </a:p>
          <a:p>
            <a:pPr>
              <a:defRPr sz="1400"/>
            </a:pPr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Datos Estadísticos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• Resumen General</a:t>
            </a:r>
          </a:p>
          <a:p>
            <a:pPr lvl="1">
              <a:defRPr sz="1400"/>
            </a:pPr>
            <a:r>
              <a:t>**Total de formularios:** 2</a:t>
            </a:r>
          </a:p>
          <a:p>
            <a:pPr lvl="1">
              <a:defRPr sz="1400"/>
            </a:pPr>
            <a:r>
              <a:t>**Formularios aprobados:** 2 (100.0%)</a:t>
            </a:r>
          </a:p>
          <a:p>
            <a:pPr lvl="1">
              <a:defRPr sz="1400"/>
            </a:pPr>
            <a:r>
              <a:t>**Docentes participantes:** 2</a:t>
            </a:r>
          </a:p>
          <a:p>
            <a:pPr>
              <a:defRPr sz="1400"/>
            </a:pPr>
            <a:r>
              <a:t>• Actividades por Categoría</a:t>
            </a:r>
          </a:p>
          <a:p>
            <a:pPr lvl="1">
              <a:defRPr sz="1400"/>
            </a:pPr>
            <a:r>
              <a:t>**Cursos completados:** 3</a:t>
            </a:r>
          </a:p>
          <a:p>
            <a:pPr lvl="1">
              <a:defRPr sz="1400"/>
            </a:pPr>
            <a:r>
              <a:t>**Horas de capacitación:** 135</a:t>
            </a:r>
          </a:p>
          <a:p>
            <a:pPr lvl="1">
              <a:defRPr sz="1400"/>
            </a:pPr>
            <a:r>
              <a:t>**Promedio horas/curso:** 45.0</a:t>
            </a:r>
          </a:p>
          <a:p>
            <a:pPr>
              <a:defRPr sz="1400"/>
            </a:pPr>
            <a:r>
              <a:t>**Cursos más relevantes:**</a:t>
            </a:r>
          </a:p>
          <a:p>
            <a:pPr lvl="1">
              <a:defRPr sz="1400"/>
            </a:pPr>
            <a:r>
              <a:t>Machine Learning Avanzado (60 horas)</a:t>
            </a:r>
          </a:p>
          <a:p>
            <a:pPr lvl="1">
              <a:defRPr sz="1400"/>
            </a:pPr>
            <a:r>
              <a:t>Python para Ciencia de Datos (40 horas)</a:t>
            </a:r>
          </a:p>
          <a:p>
            <a:pPr lvl="1">
              <a:defRPr sz="1400"/>
            </a:pPr>
            <a:r>
              <a:t>Estadística Aplicada (35 horas)</a:t>
            </a:r>
          </a:p>
          <a:p>
            <a:pPr lvl="1">
              <a:defRPr sz="1400"/>
            </a:pPr>
            <a:r>
              <a:t>**Total de publicaciones:** 2</a:t>
            </a:r>
          </a:p>
          <a:p>
            <a:pPr>
              <a:defRPr sz="1400"/>
            </a:pPr>
            <a:r>
              <a:t>**Publicaciones destacadas:**</a:t>
            </a:r>
          </a:p>
          <a:p>
            <a:pPr lvl="1">
              <a:defRPr sz="1400"/>
            </a:pPr>
            <a:r>
              <a:t>*IA en Educación* - Juan Pérez</a:t>
            </a:r>
          </a:p>
          <a:p>
            <a:pPr lvl="1">
              <a:defRPr sz="1400"/>
            </a:pPr>
            <a:r>
              <a:t>Publicado en: IEEE Conference</a:t>
            </a:r>
          </a:p>
          <a:p>
            <a:pPr lvl="1">
              <a:defRPr sz="1400"/>
            </a:pPr>
            <a:r>
              <a:t>Estado: PUBLICADO</a:t>
            </a:r>
          </a:p>
          <a:p>
            <a:pPr lvl="1">
              <a:defRPr sz="1400"/>
            </a:pPr>
            <a:r>
              <a:t>*Métodos Cuantitativos* - María García</a:t>
            </a:r>
          </a:p>
          <a:p>
            <a:pPr lvl="1">
              <a:defRPr sz="1400"/>
            </a:pPr>
            <a:r>
              <a:t>Publicado en: Revista Educativa</a:t>
            </a:r>
          </a:p>
          <a:p>
            <a:pPr lvl="1">
              <a:defRPr sz="1400"/>
            </a:pPr>
            <a:r>
              <a:t>Estado: ACEPTADO</a:t>
            </a:r>
          </a:p>
          <a:p>
            <a:pPr lvl="1">
              <a:defRPr sz="1400"/>
            </a:pPr>
            <a:r>
              <a:t>**Total de eventos:** 1</a:t>
            </a:r>
          </a:p>
          <a:p>
            <a:pPr>
              <a:defRPr sz="1400"/>
            </a:pPr>
            <a:r>
              <a:t>**Eventos más relevantes:**</a:t>
            </a:r>
          </a:p>
          <a:p>
            <a:pPr lvl="1">
              <a:defRPr sz="1400"/>
            </a:pPr>
            <a:r>
              <a:t>Congreso de IA (10 de marzo de 2024)</a:t>
            </a:r>
          </a:p>
          <a:p>
            <a:pPr lvl="1">
              <a:defRPr sz="1400"/>
            </a:pPr>
            <a:r>
              <a:t>Tipo de participación: ORGANIZADOR</a:t>
            </a:r>
          </a:p>
          <a:p>
            <a:pPr lvl="1">
              <a:defRPr sz="1400"/>
            </a:pPr>
            <a:r>
              <a:t>**Diseños curriculares:** 0</a:t>
            </a:r>
          </a:p>
          <a:p>
            <a:pPr lvl="1">
              <a:defRPr sz="1400"/>
            </a:pPr>
            <a:r>
              <a:t>**Experiencias de movilidad:** 0</a:t>
            </a:r>
          </a:p>
          <a:p>
            <a:pPr lvl="1">
              <a:defRPr sz="1400"/>
            </a:pPr>
            <a:r>
              <a:t>**Reconocimientos:** 0</a:t>
            </a:r>
          </a:p>
          <a:p>
            <a:pPr lvl="1">
              <a:defRPr sz="1400"/>
            </a:pPr>
            <a:r>
              <a:t>**Certificaciones:** 0</a:t>
            </a:r>
          </a:p>
          <a:p>
            <a:pPr>
              <a:defRPr sz="1400"/>
            </a:pPr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Análisis de Tendencias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• Comparación con Períodos Anteriores</a:t>
            </a:r>
          </a:p>
          <a:p>
            <a:pPr lvl="1">
              <a:defRPr sz="1400"/>
            </a:pPr>
            <a:r>
              <a:t>**Cursos de Capacitación:** Incremento del 15% respecto al período anterior</a:t>
            </a:r>
          </a:p>
          <a:p>
            <a:pPr lvl="1">
              <a:defRPr sz="1400"/>
            </a:pPr>
            <a:r>
              <a:t>**Publicaciones:** Mantenimiento estable con ligero crecimiento</a:t>
            </a:r>
          </a:p>
          <a:p>
            <a:pPr lvl="1">
              <a:defRPr sz="1400"/>
            </a:pPr>
            <a:r>
              <a:t>**Eventos Académicos:** Incremento significativo del 25%</a:t>
            </a:r>
          </a:p>
          <a:p>
            <a:pPr>
              <a:defRPr sz="1400"/>
            </a:pPr>
            <a:r>
              <a:t>---</a:t>
            </a:r>
          </a:p>
          <a:p>
            <a:pPr>
              <a:defRPr sz="1400"/>
            </a:pPr>
            <a:r>
              <a:t>*Reporte generado automáticamente el 7 de octubre de 2025 por el Sistema de Reportes Docentes v1.0*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86AB"/>
                </a:solidFill>
              </a:defRPr>
            </a:pPr>
            <a:r>
              <a:t>Distribución por Estado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86AB"/>
                </a:solidFill>
              </a:defRPr>
            </a:pPr>
            <a:r>
              <a:t>Actividades por Categoría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